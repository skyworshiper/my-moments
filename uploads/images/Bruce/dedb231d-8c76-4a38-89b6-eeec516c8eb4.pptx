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1233" r:id="rId3"/>
    <p:sldId id="1234" r:id="rId4"/>
    <p:sldId id="1226" r:id="rId5"/>
    <p:sldId id="1170" r:id="rId6"/>
    <p:sldId id="287" r:id="rId7"/>
    <p:sldId id="368" r:id="rId8"/>
    <p:sldId id="288" r:id="rId9"/>
    <p:sldId id="294" r:id="rId10"/>
    <p:sldId id="295" r:id="rId11"/>
    <p:sldId id="296" r:id="rId12"/>
    <p:sldId id="369" r:id="rId13"/>
    <p:sldId id="297" r:id="rId14"/>
    <p:sldId id="298" r:id="rId15"/>
    <p:sldId id="371" r:id="rId16"/>
    <p:sldId id="370" r:id="rId17"/>
    <p:sldId id="299" r:id="rId18"/>
    <p:sldId id="304" r:id="rId19"/>
    <p:sldId id="289" r:id="rId20"/>
    <p:sldId id="300" r:id="rId21"/>
    <p:sldId id="303" r:id="rId22"/>
    <p:sldId id="320" r:id="rId23"/>
    <p:sldId id="302" r:id="rId24"/>
    <p:sldId id="290" r:id="rId25"/>
    <p:sldId id="1231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16" autoAdjust="0"/>
    <p:restoredTop sz="96081" autoAdjust="0"/>
  </p:normalViewPr>
  <p:slideViewPr>
    <p:cSldViewPr snapToGrid="0" snapToObjects="1">
      <p:cViewPr varScale="1">
        <p:scale>
          <a:sx n="82" d="100"/>
          <a:sy n="82" d="100"/>
        </p:scale>
        <p:origin x="9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BDF9D7-CF27-47C5-AAF8-6B30CDE6787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311B1-0584-487E-A2E3-C5F6D55AC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63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4678" y="2260600"/>
            <a:ext cx="9734550" cy="1470025"/>
          </a:xfrm>
        </p:spPr>
        <p:txBody>
          <a:bodyPr/>
          <a:lstStyle/>
          <a:p>
            <a:r>
              <a:rPr lang="en-US" b="1" dirty="0"/>
              <a:t>INFO 5100: Application Engineering and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3100" y="4120459"/>
            <a:ext cx="8362950" cy="1724025"/>
          </a:xfrm>
        </p:spPr>
        <p:txBody>
          <a:bodyPr>
            <a:normAutofit/>
          </a:bodyPr>
          <a:lstStyle/>
          <a:p>
            <a:r>
              <a:rPr lang="en-US" sz="2800" dirty="0"/>
              <a:t>2025 Fall, Instructor: Guanzhou Ji</a:t>
            </a:r>
          </a:p>
          <a:p>
            <a:r>
              <a:rPr lang="en-US" sz="2800" dirty="0"/>
              <a:t>Classroom: Seattle Campus, 225 Terry Ave 402</a:t>
            </a:r>
          </a:p>
          <a:p>
            <a:r>
              <a:rPr lang="en-US" sz="2800" dirty="0"/>
              <a:t>Lecture Time: Tues, Thurs 9:20am-11:00am</a:t>
            </a:r>
            <a:endParaRPr sz="2800" dirty="0"/>
          </a:p>
        </p:txBody>
      </p:sp>
      <p:pic>
        <p:nvPicPr>
          <p:cNvPr id="1026" name="Picture 2" descr="Northeastern University Logo">
            <a:extLst>
              <a:ext uri="{FF2B5EF4-FFF2-40B4-BE49-F238E27FC236}">
                <a16:creationId xmlns:a16="http://schemas.microsoft.com/office/drawing/2014/main" id="{B0A53A12-84CD-60CE-3FC9-0E53A5599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744" y="364629"/>
            <a:ext cx="3328419" cy="187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0B6D2-25E7-4053-5ADA-5BE0F6BF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B85C26-F6E6-40C7-B84E-0763393CDF5D}"/>
              </a:ext>
            </a:extLst>
          </p:cNvPr>
          <p:cNvSpPr txBox="1"/>
          <p:nvPr/>
        </p:nvSpPr>
        <p:spPr>
          <a:xfrm>
            <a:off x="691339" y="274290"/>
            <a:ext cx="1086993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How the project will be graded? </a:t>
            </a:r>
            <a:r>
              <a:rPr lang="en-US" sz="4400" b="1" dirty="0">
                <a:solidFill>
                  <a:srgbClr val="00B050"/>
                </a:solidFill>
              </a:rPr>
              <a:t>(Total 50pts)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3200" dirty="0"/>
          </a:p>
          <a:p>
            <a:r>
              <a:rPr lang="en-US" sz="3200" dirty="0"/>
              <a:t>- Phase 1: Project Ideation </a:t>
            </a:r>
            <a:r>
              <a:rPr lang="en-US" sz="3200" b="1" dirty="0">
                <a:solidFill>
                  <a:srgbClr val="00B050"/>
                </a:solidFill>
              </a:rPr>
              <a:t>(5pts)</a:t>
            </a:r>
          </a:p>
          <a:p>
            <a:r>
              <a:rPr lang="en-US" sz="3200" dirty="0"/>
              <a:t>				(3-5 Slides)</a:t>
            </a:r>
          </a:p>
          <a:p>
            <a:r>
              <a:rPr lang="en-US" sz="3200" dirty="0"/>
              <a:t>- Phase 2: Problem statement and logical diagram </a:t>
            </a:r>
            <a:r>
              <a:rPr lang="en-US" sz="3200" b="1" dirty="0">
                <a:solidFill>
                  <a:srgbClr val="00B050"/>
                </a:solidFill>
              </a:rPr>
              <a:t>(5pts)</a:t>
            </a:r>
          </a:p>
          <a:p>
            <a:r>
              <a:rPr lang="en-US" sz="3200" dirty="0"/>
              <a:t>				(Latex doc)</a:t>
            </a:r>
          </a:p>
          <a:p>
            <a:r>
              <a:rPr lang="en-US" sz="3200" dirty="0"/>
              <a:t>- Phase 3: Preliminary implementation </a:t>
            </a:r>
            <a:r>
              <a:rPr lang="en-US" sz="3200" b="1" dirty="0">
                <a:solidFill>
                  <a:srgbClr val="00B050"/>
                </a:solidFill>
              </a:rPr>
              <a:t>(15pts)</a:t>
            </a:r>
          </a:p>
          <a:p>
            <a:r>
              <a:rPr lang="en-US" sz="3200" dirty="0"/>
              <a:t>				(Code)</a:t>
            </a:r>
          </a:p>
          <a:p>
            <a:r>
              <a:rPr lang="en-US" sz="3200" dirty="0"/>
              <a:t>- Phase 4: Final Submission Package </a:t>
            </a:r>
            <a:r>
              <a:rPr lang="en-US" sz="3200" b="1" dirty="0">
                <a:solidFill>
                  <a:srgbClr val="00B050"/>
                </a:solidFill>
              </a:rPr>
              <a:t>(20pts)</a:t>
            </a:r>
            <a:endParaRPr lang="en-US" sz="3200" dirty="0"/>
          </a:p>
          <a:p>
            <a:r>
              <a:rPr lang="en-US" sz="3200" dirty="0"/>
              <a:t>				(Code + Latex doc)</a:t>
            </a:r>
          </a:p>
          <a:p>
            <a:r>
              <a:rPr lang="en-US" sz="3200" dirty="0"/>
              <a:t>- Phase 5: Final Presentation </a:t>
            </a:r>
            <a:r>
              <a:rPr lang="en-US" sz="3200" b="1" dirty="0">
                <a:solidFill>
                  <a:srgbClr val="00B050"/>
                </a:solidFill>
              </a:rPr>
              <a:t>(5pts)</a:t>
            </a:r>
          </a:p>
          <a:p>
            <a:r>
              <a:rPr lang="en-US" sz="3200" dirty="0"/>
              <a:t>				(Slides)</a:t>
            </a:r>
          </a:p>
        </p:txBody>
      </p:sp>
    </p:spTree>
    <p:extLst>
      <p:ext uri="{BB962C8B-B14F-4D97-AF65-F5344CB8AC3E}">
        <p14:creationId xmlns:p14="http://schemas.microsoft.com/office/powerpoint/2010/main" val="190441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5CA0F1-F4C8-EFE6-4CA2-AC0D6E2B1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736"/>
            <a:ext cx="12188825" cy="63125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04D8FA-DC7C-9629-DD90-AE75458B029D}"/>
              </a:ext>
            </a:extLst>
          </p:cNvPr>
          <p:cNvSpPr/>
          <p:nvPr/>
        </p:nvSpPr>
        <p:spPr>
          <a:xfrm>
            <a:off x="1892174" y="4246075"/>
            <a:ext cx="5477347" cy="133991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15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56DF5-2EC9-AB86-DC90-9BB411256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A94D75-4AD9-E71B-715D-2ED9EB510D89}"/>
              </a:ext>
            </a:extLst>
          </p:cNvPr>
          <p:cNvSpPr txBox="1"/>
          <p:nvPr/>
        </p:nvSpPr>
        <p:spPr>
          <a:xfrm>
            <a:off x="1480240" y="1964105"/>
            <a:ext cx="8813549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Lab format </a:t>
            </a:r>
          </a:p>
          <a:p>
            <a:endParaRPr lang="en-US" sz="2800" dirty="0"/>
          </a:p>
          <a:p>
            <a:r>
              <a:rPr lang="en-US" sz="4000" dirty="0"/>
              <a:t>We will do hard problems together, don’t worry lab scores </a:t>
            </a:r>
            <a:r>
              <a:rPr lang="en-US" altLang="zh-CN" sz="4000" b="1" dirty="0">
                <a:solidFill>
                  <a:srgbClr val="FF0000"/>
                </a:solidFill>
              </a:rPr>
              <a:t>(*</a:t>
            </a:r>
            <a:r>
              <a:rPr lang="zh-CN" altLang="en-US" sz="4000" b="1" dirty="0">
                <a:solidFill>
                  <a:srgbClr val="FF0000"/>
                </a:solidFill>
              </a:rPr>
              <a:t>￣</a:t>
            </a:r>
            <a:r>
              <a:rPr lang="en-US" altLang="zh-CN" sz="4000" b="1" dirty="0">
                <a:solidFill>
                  <a:srgbClr val="FF0000"/>
                </a:solidFill>
              </a:rPr>
              <a:t>︶</a:t>
            </a:r>
            <a:r>
              <a:rPr lang="zh-CN" altLang="en-US" sz="4000" b="1" dirty="0">
                <a:solidFill>
                  <a:srgbClr val="FF0000"/>
                </a:solidFill>
              </a:rPr>
              <a:t>￣</a:t>
            </a:r>
            <a:r>
              <a:rPr lang="en-US" altLang="zh-CN" sz="4000" b="1" dirty="0">
                <a:solidFill>
                  <a:srgbClr val="FF0000"/>
                </a:solidFill>
              </a:rPr>
              <a:t>)</a:t>
            </a:r>
            <a:r>
              <a:rPr lang="en-US" altLang="zh-CN" sz="4000" dirty="0"/>
              <a:t>.</a:t>
            </a:r>
            <a:endParaRPr lang="en-US" sz="40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98882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4F572-722A-C7FA-FA06-41E5F58D4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C8104-F1A2-C4B6-EC22-5B300689B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2857500"/>
            <a:ext cx="8229600" cy="1143000"/>
          </a:xfrm>
        </p:spPr>
        <p:txBody>
          <a:bodyPr/>
          <a:lstStyle/>
          <a:p>
            <a:r>
              <a:rPr lang="en-US" b="1" dirty="0" err="1"/>
              <a:t>Qwickly</a:t>
            </a:r>
            <a:r>
              <a:rPr lang="en-US" b="1" dirty="0"/>
              <a:t> </a:t>
            </a:r>
            <a:r>
              <a:rPr lang="en-US" b="1" dirty="0" err="1"/>
              <a:t>Attendence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604489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20E7D7-369F-569F-70EC-A062FBFAF68F}"/>
              </a:ext>
            </a:extLst>
          </p:cNvPr>
          <p:cNvSpPr txBox="1"/>
          <p:nvPr/>
        </p:nvSpPr>
        <p:spPr>
          <a:xfrm>
            <a:off x="1628774" y="2182505"/>
            <a:ext cx="831532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Example 1:</a:t>
            </a:r>
          </a:p>
          <a:p>
            <a:r>
              <a:rPr lang="en-US" sz="4400" b="1" dirty="0"/>
              <a:t>Monte Carlo Simulation </a:t>
            </a:r>
          </a:p>
          <a:p>
            <a:r>
              <a:rPr lang="en-US" sz="4400" b="1" dirty="0"/>
              <a:t>for π Approximation</a:t>
            </a:r>
          </a:p>
          <a:p>
            <a:r>
              <a:rPr lang="en-US" sz="2400" dirty="0"/>
              <a:t>We want to estimate π by throwing random points into a square</a:t>
            </a:r>
          </a:p>
        </p:txBody>
      </p:sp>
    </p:spTree>
    <p:extLst>
      <p:ext uri="{BB962C8B-B14F-4D97-AF65-F5344CB8AC3E}">
        <p14:creationId xmlns:p14="http://schemas.microsoft.com/office/powerpoint/2010/main" val="3145586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205298-CD55-9CF5-A7F2-417C8CC2BE87}"/>
              </a:ext>
            </a:extLst>
          </p:cNvPr>
          <p:cNvSpPr txBox="1"/>
          <p:nvPr/>
        </p:nvSpPr>
        <p:spPr>
          <a:xfrm>
            <a:off x="1057274" y="2644170"/>
            <a:ext cx="96678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Monte Carlo </a:t>
            </a:r>
          </a:p>
          <a:p>
            <a:r>
              <a:rPr lang="en-US" sz="3200" dirty="0"/>
              <a:t>using random sampling to estimate results for problems that might be too complex to solve exactly.</a:t>
            </a:r>
          </a:p>
        </p:txBody>
      </p:sp>
    </p:spTree>
    <p:extLst>
      <p:ext uri="{BB962C8B-B14F-4D97-AF65-F5344CB8AC3E}">
        <p14:creationId xmlns:p14="http://schemas.microsoft.com/office/powerpoint/2010/main" val="329413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C944BD-B52D-71C0-6917-C221978E7417}"/>
              </a:ext>
            </a:extLst>
          </p:cNvPr>
          <p:cNvSpPr txBox="1"/>
          <p:nvPr/>
        </p:nvSpPr>
        <p:spPr>
          <a:xfrm>
            <a:off x="295276" y="593526"/>
            <a:ext cx="560070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Step 1. The Setup</a:t>
            </a:r>
          </a:p>
          <a:p>
            <a:endParaRPr lang="en-US" dirty="0"/>
          </a:p>
          <a:p>
            <a:r>
              <a:rPr lang="en-US" sz="2800" dirty="0"/>
              <a:t>Draw a square that goes from –1 to +1 in both x and y directions.</a:t>
            </a:r>
          </a:p>
          <a:p>
            <a:r>
              <a:rPr lang="en-US" sz="2800" dirty="0"/>
              <a:t>	Its area is 2</a:t>
            </a:r>
            <a:r>
              <a:rPr lang="en-US" sz="2800" baseline="30000" dirty="0"/>
              <a:t>2</a:t>
            </a:r>
            <a:r>
              <a:rPr lang="en-US" sz="2800" dirty="0"/>
              <a:t>=4.</a:t>
            </a:r>
          </a:p>
          <a:p>
            <a:endParaRPr lang="en-US" sz="2800" dirty="0"/>
          </a:p>
          <a:p>
            <a:r>
              <a:rPr lang="en-US" sz="2800" dirty="0"/>
              <a:t>Inside the square, draw a circle of radius 1, centered at the origin.</a:t>
            </a:r>
          </a:p>
          <a:p>
            <a:r>
              <a:rPr lang="en-US" sz="2800" dirty="0"/>
              <a:t>	Its area is 𝜋×1</a:t>
            </a:r>
            <a:r>
              <a:rPr lang="en-US" sz="2800" baseline="30000" dirty="0"/>
              <a:t>2</a:t>
            </a:r>
            <a:r>
              <a:rPr lang="en-US" sz="2800" dirty="0"/>
              <a:t>=π.</a:t>
            </a:r>
          </a:p>
          <a:p>
            <a:endParaRPr lang="en-US" sz="2800" dirty="0"/>
          </a:p>
          <a:p>
            <a:r>
              <a:rPr lang="en-US" sz="2800" dirty="0"/>
              <a:t>So, the ratio of </a:t>
            </a:r>
            <a:r>
              <a:rPr lang="en-US" sz="2800" b="1" dirty="0">
                <a:solidFill>
                  <a:srgbClr val="3F3FFF"/>
                </a:solidFill>
              </a:rPr>
              <a:t>circle area </a:t>
            </a:r>
            <a:r>
              <a:rPr lang="en-US" sz="2800" dirty="0"/>
              <a:t>to square area is:𝜋/4	​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2697D6-AF4B-8F9C-ED59-214FBEC0A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426" y="1091298"/>
            <a:ext cx="5512399" cy="523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5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A251C-4486-869F-88C6-689263009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DDC550-EB9C-718A-1F22-BBD550C19E1C}"/>
              </a:ext>
            </a:extLst>
          </p:cNvPr>
          <p:cNvSpPr txBox="1"/>
          <p:nvPr/>
        </p:nvSpPr>
        <p:spPr>
          <a:xfrm>
            <a:off x="295275" y="593526"/>
            <a:ext cx="659701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Step 2. Generate Random Points</a:t>
            </a:r>
          </a:p>
          <a:p>
            <a:endParaRPr lang="en-US" dirty="0"/>
          </a:p>
          <a:p>
            <a:r>
              <a:rPr lang="en-US" sz="2800" dirty="0"/>
              <a:t>We “throw darts” (random points) at the square.</a:t>
            </a:r>
          </a:p>
          <a:p>
            <a:endParaRPr lang="en-US" sz="2800" dirty="0"/>
          </a:p>
          <a:p>
            <a:r>
              <a:rPr lang="en-US" sz="2800" dirty="0"/>
              <a:t>To get a random point:</a:t>
            </a:r>
          </a:p>
          <a:p>
            <a:r>
              <a:rPr lang="en-US" sz="2800" dirty="0"/>
              <a:t>	Pick a random 𝑥 between –1 and +1.</a:t>
            </a:r>
          </a:p>
          <a:p>
            <a:r>
              <a:rPr lang="en-US" sz="2800" dirty="0"/>
              <a:t>	Pick a random 𝑦 between –1 and +1.</a:t>
            </a:r>
          </a:p>
          <a:p>
            <a:endParaRPr lang="en-US" sz="2800" dirty="0"/>
          </a:p>
          <a:p>
            <a:r>
              <a:rPr lang="en-US" sz="2800" dirty="0"/>
              <a:t>This gives us a point (𝑥,𝑦) somewhere in the square.</a:t>
            </a:r>
            <a:r>
              <a:rPr lang="en-US" dirty="0"/>
              <a:t>	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87BFBD-B211-B35F-9D23-2BC6E8883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300" y="1092885"/>
            <a:ext cx="5376525" cy="517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3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CFA2-4833-E97F-FB5B-0CFF08C4A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16FDD6-00A8-340A-8C71-CE9AFCEF871A}"/>
              </a:ext>
            </a:extLst>
          </p:cNvPr>
          <p:cNvSpPr txBox="1"/>
          <p:nvPr/>
        </p:nvSpPr>
        <p:spPr>
          <a:xfrm>
            <a:off x="295275" y="593526"/>
            <a:ext cx="815149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Step 3. Check if Point is Inside the Circle</a:t>
            </a:r>
          </a:p>
          <a:p>
            <a:endParaRPr lang="en-US" dirty="0"/>
          </a:p>
          <a:p>
            <a:r>
              <a:rPr lang="en-US" sz="2800" dirty="0"/>
              <a:t>A point is inside the circle if:</a:t>
            </a:r>
          </a:p>
          <a:p>
            <a:r>
              <a:rPr lang="en-US" sz="2800" dirty="0"/>
              <a:t>	x</a:t>
            </a:r>
            <a:r>
              <a:rPr lang="en-US" sz="2800" baseline="30000" dirty="0"/>
              <a:t>2</a:t>
            </a:r>
            <a:r>
              <a:rPr lang="en-US" sz="2800" dirty="0"/>
              <a:t>+y</a:t>
            </a:r>
            <a:r>
              <a:rPr lang="en-US" sz="2800" baseline="30000" dirty="0"/>
              <a:t>2</a:t>
            </a:r>
            <a:r>
              <a:rPr lang="en-US" sz="2800" dirty="0"/>
              <a:t>≤1</a:t>
            </a:r>
          </a:p>
          <a:p>
            <a:endParaRPr lang="en-US" sz="2800" dirty="0"/>
          </a:p>
          <a:p>
            <a:r>
              <a:rPr lang="en-US" sz="2800" dirty="0"/>
              <a:t>Example:</a:t>
            </a:r>
          </a:p>
          <a:p>
            <a:r>
              <a:rPr lang="en-US" sz="2800" dirty="0"/>
              <a:t>	Pt (0.2, 0.4), 0.2</a:t>
            </a:r>
            <a:r>
              <a:rPr lang="en-US" sz="2800" b="1" baseline="30000" dirty="0"/>
              <a:t>2</a:t>
            </a:r>
            <a:r>
              <a:rPr lang="en-US" sz="2800" dirty="0"/>
              <a:t>+0.4</a:t>
            </a:r>
            <a:r>
              <a:rPr lang="en-US" sz="2800" b="1" baseline="30000" dirty="0"/>
              <a:t>2</a:t>
            </a:r>
            <a:r>
              <a:rPr lang="en-US" sz="2800" dirty="0"/>
              <a:t>=0.2, </a:t>
            </a:r>
            <a:r>
              <a:rPr lang="en-US" sz="2800" b="1" dirty="0">
                <a:solidFill>
                  <a:srgbClr val="00B050"/>
                </a:solidFill>
              </a:rPr>
              <a:t>inside</a:t>
            </a:r>
            <a:endParaRPr lang="en-US" sz="2800" dirty="0"/>
          </a:p>
          <a:p>
            <a:r>
              <a:rPr lang="en-US" sz="2800" dirty="0"/>
              <a:t>	Pt (0.9, 0.9), 0.9</a:t>
            </a:r>
            <a:r>
              <a:rPr lang="en-US" sz="2800" b="1" baseline="30000" dirty="0"/>
              <a:t>2</a:t>
            </a:r>
            <a:r>
              <a:rPr lang="en-US" sz="2800" dirty="0"/>
              <a:t>+0.9</a:t>
            </a:r>
            <a:r>
              <a:rPr lang="en-US" sz="2800" b="1" baseline="30000" dirty="0"/>
              <a:t>2</a:t>
            </a:r>
            <a:r>
              <a:rPr lang="en-US" sz="2800" dirty="0"/>
              <a:t>=1.62, </a:t>
            </a:r>
            <a:r>
              <a:rPr lang="en-US" sz="2800" b="1" dirty="0">
                <a:solidFill>
                  <a:srgbClr val="FF0000"/>
                </a:solidFill>
              </a:rPr>
              <a:t>outside</a:t>
            </a:r>
            <a:r>
              <a:rPr lang="en-US" dirty="0"/>
              <a:t>	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05068-F584-009B-8CDD-073FDD35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757" y="1191292"/>
            <a:ext cx="5274218" cy="507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56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80D1D-7CA3-0778-6CFB-68F45A69A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842372-DFE3-6CE2-6940-8A018F100FA6}"/>
              </a:ext>
            </a:extLst>
          </p:cNvPr>
          <p:cNvSpPr txBox="1"/>
          <p:nvPr/>
        </p:nvSpPr>
        <p:spPr>
          <a:xfrm>
            <a:off x="295275" y="593526"/>
            <a:ext cx="628840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Step 4. Count Inside vs. Total</a:t>
            </a:r>
          </a:p>
          <a:p>
            <a:endParaRPr lang="en-US" dirty="0"/>
          </a:p>
          <a:p>
            <a:r>
              <a:rPr lang="en-US" sz="2800" dirty="0"/>
              <a:t>Suppose we throw </a:t>
            </a:r>
            <a:r>
              <a:rPr lang="en-US" sz="2800" b="1" dirty="0"/>
              <a:t>𝑛</a:t>
            </a:r>
            <a:r>
              <a:rPr lang="en-US" sz="2800" dirty="0"/>
              <a:t> points.</a:t>
            </a:r>
          </a:p>
          <a:p>
            <a:endParaRPr lang="en-US" sz="2800" dirty="0"/>
          </a:p>
          <a:p>
            <a:r>
              <a:rPr lang="en-US" sz="2800" dirty="0"/>
              <a:t>Let </a:t>
            </a:r>
            <a:r>
              <a:rPr lang="en-US" sz="2800" b="1" dirty="0"/>
              <a:t>𝑐</a:t>
            </a:r>
            <a:r>
              <a:rPr lang="en-US" sz="2800" dirty="0"/>
              <a:t> = number of points that landed </a:t>
            </a:r>
            <a:r>
              <a:rPr lang="en-US" sz="2800" b="1" dirty="0">
                <a:solidFill>
                  <a:srgbClr val="00B050"/>
                </a:solidFill>
              </a:rPr>
              <a:t>inside</a:t>
            </a:r>
            <a:r>
              <a:rPr lang="en-US" sz="2800" dirty="0"/>
              <a:t> the circle.</a:t>
            </a:r>
          </a:p>
          <a:p>
            <a:endParaRPr lang="en-US" sz="2800" dirty="0"/>
          </a:p>
          <a:p>
            <a:r>
              <a:rPr lang="en-US" sz="2800" dirty="0"/>
              <a:t>Then the ratio: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5284D0-E402-4D0C-62A7-D00FE15A6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757" y="1191292"/>
            <a:ext cx="5296826" cy="50731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B9A3C8-2857-ABB0-542D-6770D97EB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521" y="3171825"/>
            <a:ext cx="2193991" cy="124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7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368F12-3F8D-A65F-06EF-723D1AF2BC83}"/>
                  </a:ext>
                </a:extLst>
              </p:cNvPr>
              <p:cNvSpPr txBox="1"/>
              <p:nvPr/>
            </p:nvSpPr>
            <p:spPr>
              <a:xfrm>
                <a:off x="1352550" y="1836484"/>
                <a:ext cx="9144000" cy="37459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Why it equals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area of the square =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area of the quarter circle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ar-AE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(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So, the probability that a random point lands inside the quarter circle is exactly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By Monte Carlo,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(the experimental fraction) approximates that probability.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368F12-3F8D-A65F-06EF-723D1AF2B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550" y="1836484"/>
                <a:ext cx="9144000" cy="3745962"/>
              </a:xfrm>
              <a:prstGeom prst="rect">
                <a:avLst/>
              </a:prstGeom>
              <a:blipFill>
                <a:blip r:embed="rId2"/>
                <a:stretch>
                  <a:fillRect l="-1067" t="-1138" b="-27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12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4C446-F84B-7423-0CBC-8CC0442B6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27DC7-8130-0856-FC9F-92F84917503D}"/>
              </a:ext>
            </a:extLst>
          </p:cNvPr>
          <p:cNvSpPr txBox="1"/>
          <p:nvPr/>
        </p:nvSpPr>
        <p:spPr>
          <a:xfrm>
            <a:off x="295275" y="593526"/>
            <a:ext cx="6288405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Step 5. Estimate </a:t>
            </a:r>
            <a:r>
              <a:rPr lang="el-GR" sz="3600" b="1" dirty="0"/>
              <a:t>π</a:t>
            </a:r>
            <a:endParaRPr lang="en-US" dirty="0"/>
          </a:p>
          <a:p>
            <a:endParaRPr lang="en-US" sz="2800" dirty="0"/>
          </a:p>
          <a:p>
            <a:r>
              <a:rPr lang="en-US" sz="2800" dirty="0"/>
              <a:t>Finally: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5EACD6-07DC-AD55-B4A6-9A5E9A6AC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757" y="1191292"/>
            <a:ext cx="5296826" cy="50731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C448E3-2152-02C7-0879-3686AF300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513" y="2172857"/>
            <a:ext cx="2650588" cy="142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5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BD1F6-8CBF-A151-AF8D-3BE33159B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D5CB94E-B472-EE64-BFB9-E91DD514D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0" y="729735"/>
            <a:ext cx="12090930" cy="53985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4E102C-5143-D427-00DF-95C968851B4E}"/>
              </a:ext>
            </a:extLst>
          </p:cNvPr>
          <p:cNvSpPr txBox="1"/>
          <p:nvPr/>
        </p:nvSpPr>
        <p:spPr>
          <a:xfrm>
            <a:off x="5705474" y="2556391"/>
            <a:ext cx="482917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Track how many pts inside the circle</a:t>
            </a:r>
          </a:p>
          <a:p>
            <a:r>
              <a:rPr lang="en-US" sz="2400" b="1" dirty="0"/>
              <a:t>Loop runs n times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7A70E-580B-FE62-828B-A333C95779E8}"/>
              </a:ext>
            </a:extLst>
          </p:cNvPr>
          <p:cNvSpPr txBox="1"/>
          <p:nvPr/>
        </p:nvSpPr>
        <p:spPr>
          <a:xfrm>
            <a:off x="5705475" y="2044184"/>
            <a:ext cx="455295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n is the number of random points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653098-842D-3E63-E0B9-7319EDA91C1A}"/>
              </a:ext>
            </a:extLst>
          </p:cNvPr>
          <p:cNvCxnSpPr>
            <a:cxnSpLocks/>
          </p:cNvCxnSpPr>
          <p:nvPr/>
        </p:nvCxnSpPr>
        <p:spPr>
          <a:xfrm flipH="1">
            <a:off x="5154930" y="2228850"/>
            <a:ext cx="55054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443699-DABD-B757-1D2A-DBE2BF03E7F8}"/>
              </a:ext>
            </a:extLst>
          </p:cNvPr>
          <p:cNvCxnSpPr/>
          <p:nvPr/>
        </p:nvCxnSpPr>
        <p:spPr>
          <a:xfrm flipH="1">
            <a:off x="5159692" y="2879556"/>
            <a:ext cx="55054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E4C814E-21DF-F04E-C13D-A9EF67D651C0}"/>
              </a:ext>
            </a:extLst>
          </p:cNvPr>
          <p:cNvSpPr/>
          <p:nvPr/>
        </p:nvSpPr>
        <p:spPr>
          <a:xfrm>
            <a:off x="4400550" y="2044183"/>
            <a:ext cx="708660" cy="36933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E779BB-3F21-5774-9009-8676911D9053}"/>
              </a:ext>
            </a:extLst>
          </p:cNvPr>
          <p:cNvSpPr/>
          <p:nvPr/>
        </p:nvSpPr>
        <p:spPr>
          <a:xfrm>
            <a:off x="1460442" y="2697483"/>
            <a:ext cx="3500177" cy="5520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BBF452-D282-AE6E-1C50-0A2C8CFB45AD}"/>
              </a:ext>
            </a:extLst>
          </p:cNvPr>
          <p:cNvSpPr/>
          <p:nvPr/>
        </p:nvSpPr>
        <p:spPr>
          <a:xfrm>
            <a:off x="1104899" y="3530262"/>
            <a:ext cx="10296525" cy="269033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68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B157E-3260-764D-1CE7-40B1E66FC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8CD9B26-20C7-7375-84AE-B12CF6C667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0" y="729735"/>
            <a:ext cx="12090930" cy="53985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1310BF-9CB2-B7A9-A9DB-199BCFAD26E3}"/>
              </a:ext>
            </a:extLst>
          </p:cNvPr>
          <p:cNvSpPr txBox="1"/>
          <p:nvPr/>
        </p:nvSpPr>
        <p:spPr>
          <a:xfrm>
            <a:off x="5705474" y="2556391"/>
            <a:ext cx="482917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Track how many pts inside the circle</a:t>
            </a:r>
          </a:p>
          <a:p>
            <a:r>
              <a:rPr lang="en-US" sz="2400" b="1" dirty="0"/>
              <a:t>Loop runs n times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9F946-AF09-2F83-B489-9AE45A7CFAF3}"/>
              </a:ext>
            </a:extLst>
          </p:cNvPr>
          <p:cNvSpPr txBox="1"/>
          <p:nvPr/>
        </p:nvSpPr>
        <p:spPr>
          <a:xfrm>
            <a:off x="5705475" y="2044184"/>
            <a:ext cx="455295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n is the number of random points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90343F3-23BA-D4F1-77EC-B8D489FC19E2}"/>
              </a:ext>
            </a:extLst>
          </p:cNvPr>
          <p:cNvCxnSpPr>
            <a:cxnSpLocks/>
          </p:cNvCxnSpPr>
          <p:nvPr/>
        </p:nvCxnSpPr>
        <p:spPr>
          <a:xfrm flipH="1">
            <a:off x="5154930" y="2228850"/>
            <a:ext cx="55054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2039CD-D24C-89CF-759B-4CD9F1A534E9}"/>
              </a:ext>
            </a:extLst>
          </p:cNvPr>
          <p:cNvCxnSpPr/>
          <p:nvPr/>
        </p:nvCxnSpPr>
        <p:spPr>
          <a:xfrm flipH="1">
            <a:off x="5159692" y="2879556"/>
            <a:ext cx="55054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817E46C-82A1-367C-25E7-BD49C397B978}"/>
              </a:ext>
            </a:extLst>
          </p:cNvPr>
          <p:cNvSpPr/>
          <p:nvPr/>
        </p:nvSpPr>
        <p:spPr>
          <a:xfrm>
            <a:off x="4400550" y="2044183"/>
            <a:ext cx="708660" cy="36933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B3A473-BB6A-354C-032A-311ECBD085FA}"/>
              </a:ext>
            </a:extLst>
          </p:cNvPr>
          <p:cNvSpPr/>
          <p:nvPr/>
        </p:nvSpPr>
        <p:spPr>
          <a:xfrm>
            <a:off x="1460442" y="2697483"/>
            <a:ext cx="3500177" cy="5520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7E2AED-5AAC-2BD1-C384-110CDF8BE4BD}"/>
              </a:ext>
            </a:extLst>
          </p:cNvPr>
          <p:cNvSpPr txBox="1"/>
          <p:nvPr/>
        </p:nvSpPr>
        <p:spPr>
          <a:xfrm>
            <a:off x="6094412" y="3554323"/>
            <a:ext cx="444023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Generate random pts on </a:t>
            </a:r>
            <a:r>
              <a:rPr lang="en-US" altLang="zh-CN" sz="2400" b="1" dirty="0" err="1"/>
              <a:t>xy</a:t>
            </a:r>
            <a:r>
              <a:rPr lang="en-US" altLang="zh-CN" sz="2400" b="1" dirty="0"/>
              <a:t> plane</a:t>
            </a:r>
            <a:endParaRPr lang="en-US" sz="2400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213EB0-0BA3-63CF-999F-3C029CFE387E}"/>
              </a:ext>
            </a:extLst>
          </p:cNvPr>
          <p:cNvCxnSpPr/>
          <p:nvPr/>
        </p:nvCxnSpPr>
        <p:spPr>
          <a:xfrm flipH="1">
            <a:off x="5548629" y="3752165"/>
            <a:ext cx="55054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B9954E-F798-5C46-F6B3-3154360B2835}"/>
              </a:ext>
            </a:extLst>
          </p:cNvPr>
          <p:cNvSpPr/>
          <p:nvPr/>
        </p:nvSpPr>
        <p:spPr>
          <a:xfrm>
            <a:off x="1849379" y="3524372"/>
            <a:ext cx="3500177" cy="5520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D1F2F3-0755-E00A-AA03-41FEB9E80499}"/>
              </a:ext>
            </a:extLst>
          </p:cNvPr>
          <p:cNvSpPr txBox="1"/>
          <p:nvPr/>
        </p:nvSpPr>
        <p:spPr>
          <a:xfrm>
            <a:off x="6099174" y="4098587"/>
            <a:ext cx="565467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If the point is inside, increase count by 1</a:t>
            </a:r>
            <a:endParaRPr lang="en-US" sz="24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842EA1-C3F7-672D-3F81-389AB4563607}"/>
              </a:ext>
            </a:extLst>
          </p:cNvPr>
          <p:cNvCxnSpPr/>
          <p:nvPr/>
        </p:nvCxnSpPr>
        <p:spPr>
          <a:xfrm flipH="1">
            <a:off x="5553391" y="4296429"/>
            <a:ext cx="55054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69FC287-C4B4-9F06-0393-0CD0C4C9C7D3}"/>
              </a:ext>
            </a:extLst>
          </p:cNvPr>
          <p:cNvSpPr/>
          <p:nvPr/>
        </p:nvSpPr>
        <p:spPr>
          <a:xfrm>
            <a:off x="1854141" y="4068636"/>
            <a:ext cx="3500177" cy="5520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BE88AA-A5C3-A1C3-A090-07AF345247B0}"/>
              </a:ext>
            </a:extLst>
          </p:cNvPr>
          <p:cNvSpPr/>
          <p:nvPr/>
        </p:nvSpPr>
        <p:spPr>
          <a:xfrm>
            <a:off x="1104899" y="5104514"/>
            <a:ext cx="10648951" cy="111608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555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6466C-C966-F765-2270-9B09CDFB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57CB855-DDDD-662C-7CC9-491DADACF7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0" y="729735"/>
            <a:ext cx="12090930" cy="53985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A91E90-5D5E-8919-3F47-EAC5711540BD}"/>
              </a:ext>
            </a:extLst>
          </p:cNvPr>
          <p:cNvSpPr txBox="1"/>
          <p:nvPr/>
        </p:nvSpPr>
        <p:spPr>
          <a:xfrm>
            <a:off x="5705474" y="2556391"/>
            <a:ext cx="482917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Track how many pts inside the circle</a:t>
            </a:r>
          </a:p>
          <a:p>
            <a:r>
              <a:rPr lang="en-US" sz="2400" b="1" dirty="0"/>
              <a:t>Loop runs n times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A019C-6E95-F92D-0E45-1E216F1B65E5}"/>
              </a:ext>
            </a:extLst>
          </p:cNvPr>
          <p:cNvSpPr txBox="1"/>
          <p:nvPr/>
        </p:nvSpPr>
        <p:spPr>
          <a:xfrm>
            <a:off x="5705475" y="2044184"/>
            <a:ext cx="455295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n is the number of random points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2E68F9-3696-2362-97CB-F57EB537F076}"/>
              </a:ext>
            </a:extLst>
          </p:cNvPr>
          <p:cNvCxnSpPr>
            <a:cxnSpLocks/>
          </p:cNvCxnSpPr>
          <p:nvPr/>
        </p:nvCxnSpPr>
        <p:spPr>
          <a:xfrm flipH="1">
            <a:off x="5154930" y="2228850"/>
            <a:ext cx="55054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54D896-C762-8B1A-F931-8D5E01FC74F6}"/>
              </a:ext>
            </a:extLst>
          </p:cNvPr>
          <p:cNvCxnSpPr/>
          <p:nvPr/>
        </p:nvCxnSpPr>
        <p:spPr>
          <a:xfrm flipH="1">
            <a:off x="5159692" y="2879556"/>
            <a:ext cx="55054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5BFCC9A-42D1-C10B-386A-16FF83AF358F}"/>
              </a:ext>
            </a:extLst>
          </p:cNvPr>
          <p:cNvSpPr/>
          <p:nvPr/>
        </p:nvSpPr>
        <p:spPr>
          <a:xfrm>
            <a:off x="4400550" y="2044183"/>
            <a:ext cx="708660" cy="36933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46ECED-3053-31DD-9CCB-0ECAD95CCD8D}"/>
              </a:ext>
            </a:extLst>
          </p:cNvPr>
          <p:cNvSpPr/>
          <p:nvPr/>
        </p:nvSpPr>
        <p:spPr>
          <a:xfrm>
            <a:off x="1460442" y="2697483"/>
            <a:ext cx="3500177" cy="5520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3A981B-CF72-85D3-978B-C624B1681914}"/>
              </a:ext>
            </a:extLst>
          </p:cNvPr>
          <p:cNvSpPr txBox="1"/>
          <p:nvPr/>
        </p:nvSpPr>
        <p:spPr>
          <a:xfrm>
            <a:off x="6094412" y="3554323"/>
            <a:ext cx="444023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Generate random pts on </a:t>
            </a:r>
            <a:r>
              <a:rPr lang="en-US" altLang="zh-CN" sz="2400" b="1" dirty="0" err="1"/>
              <a:t>xy</a:t>
            </a:r>
            <a:r>
              <a:rPr lang="en-US" altLang="zh-CN" sz="2400" b="1" dirty="0"/>
              <a:t> plane</a:t>
            </a:r>
            <a:endParaRPr lang="en-US" sz="2400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34B91D-7638-18A5-E123-32AA66A29978}"/>
              </a:ext>
            </a:extLst>
          </p:cNvPr>
          <p:cNvCxnSpPr/>
          <p:nvPr/>
        </p:nvCxnSpPr>
        <p:spPr>
          <a:xfrm flipH="1">
            <a:off x="5548629" y="3752165"/>
            <a:ext cx="55054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667ADD7-A2E8-C96A-EA48-98E51523724A}"/>
              </a:ext>
            </a:extLst>
          </p:cNvPr>
          <p:cNvSpPr/>
          <p:nvPr/>
        </p:nvSpPr>
        <p:spPr>
          <a:xfrm>
            <a:off x="1849379" y="3524372"/>
            <a:ext cx="3500177" cy="5520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40845D-CCAD-F2EF-57ED-C7710ABD96F0}"/>
              </a:ext>
            </a:extLst>
          </p:cNvPr>
          <p:cNvSpPr txBox="1"/>
          <p:nvPr/>
        </p:nvSpPr>
        <p:spPr>
          <a:xfrm>
            <a:off x="6099174" y="4098587"/>
            <a:ext cx="565467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If the point is inside, increase count by 1</a:t>
            </a:r>
            <a:endParaRPr lang="en-US" sz="24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FC83A5-22F4-F958-2E24-3099411BADF3}"/>
              </a:ext>
            </a:extLst>
          </p:cNvPr>
          <p:cNvCxnSpPr/>
          <p:nvPr/>
        </p:nvCxnSpPr>
        <p:spPr>
          <a:xfrm flipH="1">
            <a:off x="5553391" y="4296429"/>
            <a:ext cx="55054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A4CEBBB-1FFD-E9D4-DFB4-E3467ED69A39}"/>
              </a:ext>
            </a:extLst>
          </p:cNvPr>
          <p:cNvSpPr/>
          <p:nvPr/>
        </p:nvSpPr>
        <p:spPr>
          <a:xfrm>
            <a:off x="1854141" y="4068636"/>
            <a:ext cx="3500177" cy="5520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520CB2-4179-C33C-ABDC-1DCCE1C26839}"/>
              </a:ext>
            </a:extLst>
          </p:cNvPr>
          <p:cNvSpPr txBox="1"/>
          <p:nvPr/>
        </p:nvSpPr>
        <p:spPr>
          <a:xfrm>
            <a:off x="5553391" y="5146328"/>
            <a:ext cx="414305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Return an approximation of π</a:t>
            </a:r>
            <a:endParaRPr lang="en-US" sz="2400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E96967-D21F-A6D4-F445-118408163541}"/>
              </a:ext>
            </a:extLst>
          </p:cNvPr>
          <p:cNvCxnSpPr/>
          <p:nvPr/>
        </p:nvCxnSpPr>
        <p:spPr>
          <a:xfrm flipH="1">
            <a:off x="5007608" y="5344170"/>
            <a:ext cx="55054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70B2E7D-6A97-514A-84CB-448A8B5AE4B7}"/>
              </a:ext>
            </a:extLst>
          </p:cNvPr>
          <p:cNvSpPr/>
          <p:nvPr/>
        </p:nvSpPr>
        <p:spPr>
          <a:xfrm>
            <a:off x="2315151" y="5054949"/>
            <a:ext cx="2668329" cy="5520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18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DB828-A628-D797-D53C-41D1C311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AB3D6E-E5F7-61F9-5DE5-37A13F0627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958" b="38762"/>
          <a:stretch>
            <a:fillRect/>
          </a:stretch>
        </p:blipFill>
        <p:spPr>
          <a:xfrm>
            <a:off x="0" y="388621"/>
            <a:ext cx="12090930" cy="1325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A55F18-BE06-8EF4-AA76-0530512A6D79}"/>
              </a:ext>
            </a:extLst>
          </p:cNvPr>
          <p:cNvSpPr txBox="1"/>
          <p:nvPr/>
        </p:nvSpPr>
        <p:spPr>
          <a:xfrm>
            <a:off x="723794" y="1907084"/>
            <a:ext cx="113671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bg1"/>
                </a:solidFill>
              </a:rPr>
              <a:t>Math.random</a:t>
            </a:r>
            <a:r>
              <a:rPr lang="en-US" sz="2800" b="1" dirty="0">
                <a:solidFill>
                  <a:schemeClr val="bg1"/>
                </a:solidFill>
              </a:rPr>
              <a:t>()</a:t>
            </a:r>
          </a:p>
          <a:p>
            <a:r>
              <a:rPr lang="en-US" sz="2800" dirty="0">
                <a:solidFill>
                  <a:schemeClr val="bg1"/>
                </a:solidFill>
              </a:rPr>
              <a:t>	Returns a random number between 0.0 (inclusive) and 1.0 (exclusive).</a:t>
            </a:r>
          </a:p>
          <a:p>
            <a:r>
              <a:rPr lang="en-US" sz="2800" dirty="0">
                <a:solidFill>
                  <a:schemeClr val="bg1"/>
                </a:solidFill>
              </a:rPr>
              <a:t>	Example: 0.0, 0.234, 0.999...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DA0230-1629-8577-9338-2EFC0C85182C}"/>
              </a:ext>
            </a:extLst>
          </p:cNvPr>
          <p:cNvSpPr/>
          <p:nvPr/>
        </p:nvSpPr>
        <p:spPr>
          <a:xfrm>
            <a:off x="4048124" y="955991"/>
            <a:ext cx="1428751" cy="5520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D158E-C07B-C359-F782-B639A0099FB8}"/>
              </a:ext>
            </a:extLst>
          </p:cNvPr>
          <p:cNvSpPr txBox="1"/>
          <p:nvPr/>
        </p:nvSpPr>
        <p:spPr>
          <a:xfrm>
            <a:off x="723794" y="3360836"/>
            <a:ext cx="1136713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* (hi - low)</a:t>
            </a:r>
          </a:p>
          <a:p>
            <a:r>
              <a:rPr lang="en-US" sz="2800" dirty="0">
                <a:solidFill>
                  <a:schemeClr val="bg1"/>
                </a:solidFill>
              </a:rPr>
              <a:t>	Stretches that into the interval [0, hi - low).</a:t>
            </a:r>
          </a:p>
          <a:p>
            <a:r>
              <a:rPr lang="en-US" sz="2800" dirty="0">
                <a:solidFill>
                  <a:schemeClr val="bg1"/>
                </a:solidFill>
              </a:rPr>
              <a:t>	Example: if low = -1 and hi = 1, then (hi - low) = 2.</a:t>
            </a:r>
          </a:p>
          <a:p>
            <a:r>
              <a:rPr lang="en-US" sz="2800" dirty="0">
                <a:solidFill>
                  <a:schemeClr val="bg1"/>
                </a:solidFill>
              </a:rPr>
              <a:t>		So you get [0, 2).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E4F0BF-0C48-5F90-FC6D-4F93AF034F39}"/>
              </a:ext>
            </a:extLst>
          </p:cNvPr>
          <p:cNvSpPr txBox="1"/>
          <p:nvPr/>
        </p:nvSpPr>
        <p:spPr>
          <a:xfrm>
            <a:off x="723794" y="5144572"/>
            <a:ext cx="113671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+ low</a:t>
            </a:r>
          </a:p>
          <a:p>
            <a:r>
              <a:rPr lang="en-US" sz="2800" dirty="0">
                <a:solidFill>
                  <a:schemeClr val="bg1"/>
                </a:solidFill>
              </a:rPr>
              <a:t>	Shifts the interval up so it starts at low.</a:t>
            </a:r>
          </a:p>
          <a:p>
            <a:r>
              <a:rPr lang="en-US" sz="2800" dirty="0">
                <a:solidFill>
                  <a:schemeClr val="bg1"/>
                </a:solidFill>
              </a:rPr>
              <a:t>	With low = -1, it becomes [-1, 1).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0FC5E3-3D1B-103A-FC17-7243AACF2288}"/>
              </a:ext>
            </a:extLst>
          </p:cNvPr>
          <p:cNvSpPr/>
          <p:nvPr/>
        </p:nvSpPr>
        <p:spPr>
          <a:xfrm>
            <a:off x="2428874" y="955991"/>
            <a:ext cx="1533526" cy="5520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2D2419-EF60-CE70-965D-C3CC168DD255}"/>
              </a:ext>
            </a:extLst>
          </p:cNvPr>
          <p:cNvSpPr/>
          <p:nvPr/>
        </p:nvSpPr>
        <p:spPr>
          <a:xfrm>
            <a:off x="5562599" y="955991"/>
            <a:ext cx="828675" cy="5520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5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CE472-336E-F058-25B7-38FA96EF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14B87C-C110-9853-F73B-4B14C756E8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873" b="25000"/>
          <a:stretch>
            <a:fillRect/>
          </a:stretch>
        </p:blipFill>
        <p:spPr>
          <a:xfrm>
            <a:off x="0" y="2011679"/>
            <a:ext cx="12090930" cy="14173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52A5FD-995F-7C4B-73C4-6A73FF3DC700}"/>
              </a:ext>
            </a:extLst>
          </p:cNvPr>
          <p:cNvSpPr txBox="1"/>
          <p:nvPr/>
        </p:nvSpPr>
        <p:spPr>
          <a:xfrm>
            <a:off x="1042034" y="3858875"/>
            <a:ext cx="96869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It checks whether a point (𝑥,𝑦) is inside or on the boundary of a circle with radius r centered at the origin (0,0).</a:t>
            </a:r>
          </a:p>
          <a:p>
            <a:r>
              <a:rPr lang="en-US" sz="2800" dirty="0">
                <a:solidFill>
                  <a:schemeClr val="bg1"/>
                </a:solidFill>
              </a:rPr>
              <a:t>Returns true if the point is inside, false otherwise.</a:t>
            </a:r>
          </a:p>
        </p:txBody>
      </p:sp>
    </p:spTree>
    <p:extLst>
      <p:ext uri="{BB962C8B-B14F-4D97-AF65-F5344CB8AC3E}">
        <p14:creationId xmlns:p14="http://schemas.microsoft.com/office/powerpoint/2010/main" val="2110580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045B2-A657-D217-C39E-4A469B1B4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377B8B-27CF-3DCD-F94B-E17065FA9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499" y="0"/>
            <a:ext cx="767982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7A3CCC-FBA6-E42E-5476-EB15FB140337}"/>
              </a:ext>
            </a:extLst>
          </p:cNvPr>
          <p:cNvSpPr/>
          <p:nvPr/>
        </p:nvSpPr>
        <p:spPr>
          <a:xfrm>
            <a:off x="2878079" y="3248326"/>
            <a:ext cx="5100061" cy="194089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2596EB-013C-94CF-2339-6B37ABFE627B}"/>
              </a:ext>
            </a:extLst>
          </p:cNvPr>
          <p:cNvCxnSpPr>
            <a:cxnSpLocks/>
          </p:cNvCxnSpPr>
          <p:nvPr/>
        </p:nvCxnSpPr>
        <p:spPr>
          <a:xfrm flipV="1">
            <a:off x="4613274" y="2295525"/>
            <a:ext cx="0" cy="95280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BCBBC78-97E5-56DD-EF24-A385126F0ED1}"/>
              </a:ext>
            </a:extLst>
          </p:cNvPr>
          <p:cNvSpPr txBox="1"/>
          <p:nvPr/>
        </p:nvSpPr>
        <p:spPr>
          <a:xfrm>
            <a:off x="5899785" y="1210212"/>
            <a:ext cx="6092190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inside your class (</a:t>
            </a:r>
            <a:r>
              <a:rPr lang="en-US" sz="2800" b="1" dirty="0" err="1"/>
              <a:t>PiCalc</a:t>
            </a:r>
            <a:r>
              <a:rPr lang="en-US" sz="2800" b="1" dirty="0"/>
              <a:t>), you can call static methods directly anywhere in that class, because it’s static</a:t>
            </a:r>
          </a:p>
        </p:txBody>
      </p:sp>
    </p:spTree>
    <p:extLst>
      <p:ext uri="{BB962C8B-B14F-4D97-AF65-F5344CB8AC3E}">
        <p14:creationId xmlns:p14="http://schemas.microsoft.com/office/powerpoint/2010/main" val="1494763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46754-D7EB-E01D-7E92-D1423BD59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4CA173-35A4-8D37-3F0C-3BE3926E1D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663" r="46008"/>
          <a:stretch>
            <a:fillRect/>
          </a:stretch>
        </p:blipFill>
        <p:spPr>
          <a:xfrm>
            <a:off x="1474" y="2193925"/>
            <a:ext cx="12187351" cy="24701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02EF5E-17F0-EBB6-C1DB-5E0CBFC89A5A}"/>
              </a:ext>
            </a:extLst>
          </p:cNvPr>
          <p:cNvSpPr txBox="1"/>
          <p:nvPr/>
        </p:nvSpPr>
        <p:spPr>
          <a:xfrm>
            <a:off x="6563042" y="2251680"/>
            <a:ext cx="4466908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Creates a Scanner object named </a:t>
            </a:r>
            <a:r>
              <a:rPr lang="en-US" sz="2400" b="1" dirty="0" err="1"/>
              <a:t>sc</a:t>
            </a:r>
            <a:r>
              <a:rPr lang="en-US" sz="2400" b="1" dirty="0"/>
              <a:t> to read input from the keyboard (System.in).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730D15-B9F1-B9E7-79C0-464AEE6469B5}"/>
              </a:ext>
            </a:extLst>
          </p:cNvPr>
          <p:cNvCxnSpPr>
            <a:cxnSpLocks/>
          </p:cNvCxnSpPr>
          <p:nvPr/>
        </p:nvCxnSpPr>
        <p:spPr>
          <a:xfrm flipH="1">
            <a:off x="6012497" y="3097530"/>
            <a:ext cx="55054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46FAF55-185D-B310-36B2-89BE16F7BA8A}"/>
              </a:ext>
            </a:extLst>
          </p:cNvPr>
          <p:cNvSpPr txBox="1"/>
          <p:nvPr/>
        </p:nvSpPr>
        <p:spPr>
          <a:xfrm>
            <a:off x="6563042" y="3557637"/>
            <a:ext cx="5484178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Reads the next integer typed by the user in the console.</a:t>
            </a:r>
          </a:p>
          <a:p>
            <a:r>
              <a:rPr lang="en-US" sz="2400" b="1" dirty="0"/>
              <a:t>Stores it in the variable </a:t>
            </a:r>
            <a:r>
              <a:rPr lang="en-US" sz="2400" b="1" dirty="0" err="1"/>
              <a:t>numPearls</a:t>
            </a:r>
            <a:r>
              <a:rPr lang="en-US" sz="2400" b="1" dirty="0"/>
              <a:t>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5286AE-4F4F-391D-0650-9974FA8C3DA8}"/>
              </a:ext>
            </a:extLst>
          </p:cNvPr>
          <p:cNvCxnSpPr>
            <a:cxnSpLocks/>
          </p:cNvCxnSpPr>
          <p:nvPr/>
        </p:nvCxnSpPr>
        <p:spPr>
          <a:xfrm flipH="1">
            <a:off x="4983480" y="3681313"/>
            <a:ext cx="1579562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87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A8BBB2-FA04-5723-118F-8D280D37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AE724F-300D-644B-9AF9-090045E5C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499" y="0"/>
            <a:ext cx="7679827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0FF11E-ED92-4735-33CC-B9B191C3089A}"/>
              </a:ext>
            </a:extLst>
          </p:cNvPr>
          <p:cNvSpPr/>
          <p:nvPr/>
        </p:nvSpPr>
        <p:spPr>
          <a:xfrm>
            <a:off x="2834640" y="3314700"/>
            <a:ext cx="5006340" cy="178308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7F469A-0C07-A3FA-EC68-740271B350CC}"/>
              </a:ext>
            </a:extLst>
          </p:cNvPr>
          <p:cNvSpPr/>
          <p:nvPr/>
        </p:nvSpPr>
        <p:spPr>
          <a:xfrm>
            <a:off x="2834640" y="815340"/>
            <a:ext cx="3086100" cy="238506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Bent-Up 13">
            <a:extLst>
              <a:ext uri="{FF2B5EF4-FFF2-40B4-BE49-F238E27FC236}">
                <a16:creationId xmlns:a16="http://schemas.microsoft.com/office/drawing/2014/main" id="{741814D3-0DE9-5068-5804-B04FC0F9F39E}"/>
              </a:ext>
            </a:extLst>
          </p:cNvPr>
          <p:cNvSpPr/>
          <p:nvPr/>
        </p:nvSpPr>
        <p:spPr>
          <a:xfrm rot="10800000" flipH="1">
            <a:off x="5920740" y="942971"/>
            <a:ext cx="3086100" cy="4412933"/>
          </a:xfrm>
          <a:prstGeom prst="bentUpArrow">
            <a:avLst>
              <a:gd name="adj1" fmla="val 2626"/>
              <a:gd name="adj2" fmla="val 6440"/>
              <a:gd name="adj3" fmla="val 2358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Bent-Up 14">
            <a:extLst>
              <a:ext uri="{FF2B5EF4-FFF2-40B4-BE49-F238E27FC236}">
                <a16:creationId xmlns:a16="http://schemas.microsoft.com/office/drawing/2014/main" id="{BFC6BE85-3579-06B8-0C1E-15F1F8A93EB6}"/>
              </a:ext>
            </a:extLst>
          </p:cNvPr>
          <p:cNvSpPr/>
          <p:nvPr/>
        </p:nvSpPr>
        <p:spPr>
          <a:xfrm rot="5400000" flipH="1" flipV="1">
            <a:off x="5752148" y="1665922"/>
            <a:ext cx="1817370" cy="1480185"/>
          </a:xfrm>
          <a:prstGeom prst="bentUpArrow">
            <a:avLst>
              <a:gd name="adj1" fmla="val 2626"/>
              <a:gd name="adj2" fmla="val 6440"/>
              <a:gd name="adj3" fmla="val 2482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D0C709-D8FB-A189-6562-3A73A31B0F8E}"/>
              </a:ext>
            </a:extLst>
          </p:cNvPr>
          <p:cNvSpPr/>
          <p:nvPr/>
        </p:nvSpPr>
        <p:spPr>
          <a:xfrm>
            <a:off x="2834640" y="5355905"/>
            <a:ext cx="6918960" cy="131159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94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00A91-1E27-A33A-1899-01007969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B6CFC9-757C-9E57-0BDF-4D81222551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510"/>
          <a:stretch>
            <a:fillRect/>
          </a:stretch>
        </p:blipFill>
        <p:spPr>
          <a:xfrm>
            <a:off x="1993466" y="1229177"/>
            <a:ext cx="7607734" cy="17807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2F6F8A-6DBC-8E65-4714-EBFEC31E3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31" y="3657600"/>
            <a:ext cx="10359045" cy="28768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68B3F8-4C7B-0F0F-5A65-1DC57F368897}"/>
              </a:ext>
            </a:extLst>
          </p:cNvPr>
          <p:cNvSpPr/>
          <p:nvPr/>
        </p:nvSpPr>
        <p:spPr>
          <a:xfrm>
            <a:off x="152400" y="5096046"/>
            <a:ext cx="10236200" cy="110155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68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77BC-558F-3866-B277-5C5266227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74ABD8-7477-907C-55A0-43E39A917466}"/>
              </a:ext>
            </a:extLst>
          </p:cNvPr>
          <p:cNvSpPr txBox="1"/>
          <p:nvPr/>
        </p:nvSpPr>
        <p:spPr>
          <a:xfrm>
            <a:off x="1066800" y="2705725"/>
            <a:ext cx="98679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Is this Object Oriented Programming</a:t>
            </a:r>
          </a:p>
          <a:p>
            <a:pPr algn="ctr"/>
            <a:r>
              <a:rPr lang="en-US" sz="4400" b="1" dirty="0"/>
              <a:t>(OOP)?</a:t>
            </a:r>
          </a:p>
        </p:txBody>
      </p:sp>
    </p:spTree>
    <p:extLst>
      <p:ext uri="{BB962C8B-B14F-4D97-AF65-F5344CB8AC3E}">
        <p14:creationId xmlns:p14="http://schemas.microsoft.com/office/powerpoint/2010/main" val="26256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8611E5-5A0D-CC08-A66A-E0E209455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FF5EB4-B3B7-B456-9723-2C6C8B3A1321}"/>
              </a:ext>
            </a:extLst>
          </p:cNvPr>
          <p:cNvSpPr txBox="1"/>
          <p:nvPr/>
        </p:nvSpPr>
        <p:spPr>
          <a:xfrm>
            <a:off x="317998" y="2488524"/>
            <a:ext cx="4191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current code is procedural 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(all-static helpers)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8AD1D-0D80-06E2-18EF-AAFBF2FCD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998" y="0"/>
            <a:ext cx="767982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9C10ADE-8F65-4E5D-7E95-0AB27AE48D52}"/>
              </a:ext>
            </a:extLst>
          </p:cNvPr>
          <p:cNvSpPr/>
          <p:nvPr/>
        </p:nvSpPr>
        <p:spPr>
          <a:xfrm>
            <a:off x="5740082" y="834508"/>
            <a:ext cx="517843" cy="36933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9A5DE9-23B8-E3B7-D92E-9085E1E0F9E6}"/>
              </a:ext>
            </a:extLst>
          </p:cNvPr>
          <p:cNvSpPr/>
          <p:nvPr/>
        </p:nvSpPr>
        <p:spPr>
          <a:xfrm>
            <a:off x="5740081" y="3330058"/>
            <a:ext cx="517843" cy="36933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0231A0-A161-3059-2CCC-E3111B6AC4AB}"/>
              </a:ext>
            </a:extLst>
          </p:cNvPr>
          <p:cNvSpPr/>
          <p:nvPr/>
        </p:nvSpPr>
        <p:spPr>
          <a:xfrm>
            <a:off x="5740082" y="4196832"/>
            <a:ext cx="517843" cy="36933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50B66C-85DF-EDCA-6549-2DA50DF14BB1}"/>
              </a:ext>
            </a:extLst>
          </p:cNvPr>
          <p:cNvSpPr/>
          <p:nvPr/>
        </p:nvSpPr>
        <p:spPr>
          <a:xfrm>
            <a:off x="5740082" y="5263633"/>
            <a:ext cx="517843" cy="36933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92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414AA-0656-FB75-074B-9B343593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D2697C-BB01-241B-07E8-6436F4D6F026}"/>
              </a:ext>
            </a:extLst>
          </p:cNvPr>
          <p:cNvSpPr txBox="1"/>
          <p:nvPr/>
        </p:nvSpPr>
        <p:spPr>
          <a:xfrm>
            <a:off x="1066800" y="2705725"/>
            <a:ext cx="98679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Lab Session</a:t>
            </a:r>
            <a:endParaRPr lang="en-US" sz="4800" b="1" dirty="0"/>
          </a:p>
          <a:p>
            <a:pPr algn="ctr"/>
            <a:r>
              <a:rPr lang="en-US" sz="4800" dirty="0"/>
              <a:t>Changing this procedural code </a:t>
            </a:r>
          </a:p>
          <a:p>
            <a:pPr algn="ctr"/>
            <a:r>
              <a:rPr lang="en-US" sz="4800" dirty="0"/>
              <a:t>into OOP </a:t>
            </a:r>
          </a:p>
        </p:txBody>
      </p:sp>
    </p:spTree>
    <p:extLst>
      <p:ext uri="{BB962C8B-B14F-4D97-AF65-F5344CB8AC3E}">
        <p14:creationId xmlns:p14="http://schemas.microsoft.com/office/powerpoint/2010/main" val="3713028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794</Words>
  <Application>Microsoft Office PowerPoint</Application>
  <PresentationFormat>Custom</PresentationFormat>
  <Paragraphs>106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Cambria Math</vt:lpstr>
      <vt:lpstr>Office Theme</vt:lpstr>
      <vt:lpstr>INFO 5100: Application Engineering and Development</vt:lpstr>
      <vt:lpstr>PowerPoint Presentation</vt:lpstr>
      <vt:lpstr>PowerPoint Presentation</vt:lpstr>
      <vt:lpstr>PowerPoint Presentation</vt:lpstr>
      <vt:lpstr>Qwickly Attendence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Ji, Guanzhou</cp:lastModifiedBy>
  <cp:revision>509</cp:revision>
  <dcterms:created xsi:type="dcterms:W3CDTF">2013-01-27T09:14:16Z</dcterms:created>
  <dcterms:modified xsi:type="dcterms:W3CDTF">2025-09-18T16:20:44Z</dcterms:modified>
  <cp:category/>
</cp:coreProperties>
</file>